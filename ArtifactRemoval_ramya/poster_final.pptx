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67275" cy="42794238"/>
  <p:notesSz cx="42794238" cy="302672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501" userDrawn="1">
          <p15:clr>
            <a:srgbClr val="A4A3A4"/>
          </p15:clr>
        </p15:guide>
        <p15:guide id="2" pos="95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6DD"/>
    <a:srgbClr val="A61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404" autoAdjust="0"/>
  </p:normalViewPr>
  <p:slideViewPr>
    <p:cSldViewPr snapToGrid="0" snapToObjects="1">
      <p:cViewPr>
        <p:scale>
          <a:sx n="33" d="100"/>
          <a:sy n="33" d="100"/>
        </p:scale>
        <p:origin x="16" y="-5816"/>
      </p:cViewPr>
      <p:guideLst>
        <p:guide orient="horz" pos="13501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184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2894" y="376544"/>
            <a:ext cx="21867778" cy="786384"/>
          </a:xfrm>
          <a:prstGeom prst="roundRect">
            <a:avLst/>
          </a:prstGeom>
          <a:solidFill>
            <a:srgbClr val="0070C0"/>
          </a:solidFill>
          <a:ln>
            <a:solidFill>
              <a:srgbClr val="F3A46A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Science, Bangalore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data/iis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07011"/>
            <a:ext cx="3497094" cy="2726990"/>
          </a:xfrm>
          <a:prstGeom prst="rect">
            <a:avLst/>
          </a:prstGeom>
        </p:spPr>
      </p:pic>
      <p:pic>
        <p:nvPicPr>
          <p:cNvPr id="4" name="Image 1" descr="/mnt/data/ec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5446" y="808076"/>
            <a:ext cx="3446834" cy="34950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63490" y="1537479"/>
            <a:ext cx="14034977" cy="1120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1111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Artifact Removal for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11111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ICMS-Evoked LFP Recordings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517532" y="3225560"/>
            <a:ext cx="16634298" cy="531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Ramya Sree Galanki  •  M. Tech Signal Processing,  Department of ECE, IISc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612911" y="3683046"/>
            <a:ext cx="14799617" cy="888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Advisors: Prof. Chandra R. Murthy  •  Prof. Supratim Ray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 flipV="1">
            <a:off x="732006" y="4496386"/>
            <a:ext cx="28340690" cy="37844"/>
          </a:xfrm>
          <a:prstGeom prst="line">
            <a:avLst/>
          </a:prstGeom>
          <a:noFill/>
          <a:ln w="254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2348" y="5016190"/>
            <a:ext cx="14381290" cy="9172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B3A6E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Motivation &amp; Problem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52348" y="6207521"/>
            <a:ext cx="13930289" cy="28565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868680" y="6473949"/>
            <a:ext cx="13761720" cy="32530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Intracortical microstimulation introduces large pulse-locked artifacts into simultaneously recorded LFP signals.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These artifacts can be much larger than the neural response of interest.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Artifact shape varies across trials, pulses, and electrodes, so a single fixed template may not be sufficient.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solidFill>
                  <a:srgbClr val="1E1E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Goal: suppress stimulation artifact while preserving the underlying LFP structure.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752348" y="16029050"/>
            <a:ext cx="14381290" cy="8721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1F8A70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&amp; Setup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 flipV="1">
            <a:off x="732006" y="17042677"/>
            <a:ext cx="13365902" cy="71456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68679" y="17378276"/>
            <a:ext cx="13341971" cy="3905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GRF_001 ICMS-LFP recordings from NHP Dona.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compared: no-stimulation and high-stimulation trials.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LFP recordings were analyzed electrode-wise from segmented trial data.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real-data validation used 31 selected V1 electrodes.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artifact-analysis window: 0–0.4 s after stimulation onset.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used FFT error, harmonic artifact error, pulse-triggered residuals, and balanced score.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78668" y="21426489"/>
            <a:ext cx="14354970" cy="872105"/>
          </a:xfrm>
          <a:prstGeom prst="roundRect">
            <a:avLst/>
          </a:prstGeom>
          <a:solidFill>
            <a:srgbClr val="A613B1"/>
          </a:solidFill>
          <a:ln>
            <a:solidFill>
              <a:srgbClr val="5B3C88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Methods Compared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54377" y="35985945"/>
            <a:ext cx="1382788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29"/>
          <p:cNvSpPr/>
          <p:nvPr/>
        </p:nvSpPr>
        <p:spPr>
          <a:xfrm>
            <a:off x="15803250" y="5016190"/>
            <a:ext cx="13671418" cy="917213"/>
          </a:xfrm>
          <a:prstGeom prst="roundRect">
            <a:avLst/>
          </a:prstGeom>
          <a:solidFill>
            <a:srgbClr val="0B3A6E"/>
          </a:solidFill>
          <a:ln>
            <a:solidFill>
              <a:srgbClr val="0B3A6E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15803250" y="6260083"/>
            <a:ext cx="13497560" cy="38729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15636240" y="6392794"/>
            <a:ext cx="13761720" cy="48817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ERP templates reduce the dominant artifact but can leave structured residuals.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suppresses stimulation harmonics strongly, but may risk over-cleaning time-locked neural activity. 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SMARTAFull adapts the artifact estimate using local similarity and optimal shrinkage.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final real-data validation, SMARTAFull gave the best overall artifact reduction across 31 selected V1 electrodes.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2"/>
          <p:cNvSpPr/>
          <p:nvPr/>
        </p:nvSpPr>
        <p:spPr>
          <a:xfrm>
            <a:off x="15803250" y="11368532"/>
            <a:ext cx="13813252" cy="1055495"/>
          </a:xfrm>
          <a:prstGeom prst="roundRect">
            <a:avLst/>
          </a:prstGeom>
          <a:solidFill>
            <a:srgbClr val="1F8A70"/>
          </a:solidFill>
          <a:ln>
            <a:solidFill>
              <a:srgbClr val="1F8A70"/>
            </a:solidFill>
          </a:ln>
        </p:spPr>
        <p:txBody>
          <a:bodyPr wrap="square" lIns="2794" tIns="2794" rIns="2794" bIns="2794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IN" sz="3600" b="1" dirty="0"/>
              <a:t>Representative Result: SMARTAFull Cleaning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3"/>
          <p:cNvSpPr/>
          <p:nvPr/>
        </p:nvSpPr>
        <p:spPr>
          <a:xfrm flipV="1">
            <a:off x="15900400" y="12641810"/>
            <a:ext cx="13497560" cy="22647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1"/>
          <p:cNvSpPr/>
          <p:nvPr/>
        </p:nvSpPr>
        <p:spPr>
          <a:xfrm>
            <a:off x="15803250" y="22615453"/>
            <a:ext cx="13671418" cy="914901"/>
          </a:xfrm>
          <a:prstGeom prst="roundRect">
            <a:avLst/>
          </a:prstGeom>
          <a:solidFill>
            <a:srgbClr val="5B3C88"/>
          </a:solidFill>
          <a:ln>
            <a:solidFill>
              <a:srgbClr val="5B3C88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Across-electrode Validation</a:t>
            </a:r>
          </a:p>
        </p:txBody>
      </p:sp>
      <p:sp>
        <p:nvSpPr>
          <p:cNvPr id="55" name="Shape 42"/>
          <p:cNvSpPr/>
          <p:nvPr/>
        </p:nvSpPr>
        <p:spPr>
          <a:xfrm flipV="1">
            <a:off x="15977108" y="23723632"/>
            <a:ext cx="13497560" cy="102342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46"/>
          <p:cNvSpPr/>
          <p:nvPr/>
        </p:nvSpPr>
        <p:spPr>
          <a:xfrm>
            <a:off x="15803250" y="37019484"/>
            <a:ext cx="13671418" cy="914902"/>
          </a:xfrm>
          <a:prstGeom prst="roundRect">
            <a:avLst/>
          </a:prstGeom>
          <a:solidFill>
            <a:srgbClr val="8A1538"/>
          </a:solidFill>
          <a:ln>
            <a:solidFill>
              <a:srgbClr val="8A1538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Takeaways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47"/>
          <p:cNvSpPr/>
          <p:nvPr/>
        </p:nvSpPr>
        <p:spPr>
          <a:xfrm>
            <a:off x="15900400" y="38206591"/>
            <a:ext cx="1340041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48"/>
          <p:cNvSpPr/>
          <p:nvPr/>
        </p:nvSpPr>
        <p:spPr>
          <a:xfrm>
            <a:off x="15636240" y="38241222"/>
            <a:ext cx="13578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Trial-to-trial and pulse-to-pulse artifact variability limits fixed-template subtraction.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 is effective for harmonic suppression but can be aggressive.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SMARTAFull K=3, hp=100 Hz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best real-data trade-off between artifact suppression and signal preservation.</a:t>
            </a:r>
          </a:p>
        </p:txBody>
      </p:sp>
      <p:pic>
        <p:nvPicPr>
          <p:cNvPr id="50" name="Picture 49" descr="The image depicts a graph showing the relationship between time (in seconds) and local field potential (LFP) amplitude (in arbitrary units), illustrating a no-stimulus reference and a high-stimulus response with a possible contamination effect.&#10;&#10;AI-generated content may be incorrect.">
            <a:extLst>
              <a:ext uri="{FF2B5EF4-FFF2-40B4-BE49-F238E27FC236}">
                <a16:creationId xmlns:a16="http://schemas.microsoft.com/office/drawing/2014/main" id="{FDA15364-E6A7-EE4E-F857-45B8C5347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590" y="10131981"/>
            <a:ext cx="6099060" cy="4920882"/>
          </a:xfrm>
          <a:prstGeom prst="rect">
            <a:avLst/>
          </a:prstGeom>
        </p:spPr>
      </p:pic>
      <p:pic>
        <p:nvPicPr>
          <p:cNvPr id="63" name="Picture 62" descr="The diagram displays a Fast Fourier Transform (FFT) magnitude comparison of an electrical signal, labeled 'elec7', before and after artifact removal, with the uncleaned data showing a logarithmic scale of frequencies from 20 to 200 Hz.">
            <a:extLst>
              <a:ext uri="{FF2B5EF4-FFF2-40B4-BE49-F238E27FC236}">
                <a16:creationId xmlns:a16="http://schemas.microsoft.com/office/drawing/2014/main" id="{5496C408-03A4-C953-9AA5-5BA80BF320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490" y="10131981"/>
            <a:ext cx="6077724" cy="4920881"/>
          </a:xfrm>
          <a:prstGeom prst="rect">
            <a:avLst/>
          </a:prstGeom>
        </p:spPr>
      </p:pic>
      <p:sp>
        <p:nvSpPr>
          <p:cNvPr id="64" name="Shape 10">
            <a:extLst>
              <a:ext uri="{FF2B5EF4-FFF2-40B4-BE49-F238E27FC236}">
                <a16:creationId xmlns:a16="http://schemas.microsoft.com/office/drawing/2014/main" id="{23DE7FCC-12FD-407F-9B08-05D60F0C2027}"/>
              </a:ext>
            </a:extLst>
          </p:cNvPr>
          <p:cNvSpPr/>
          <p:nvPr/>
        </p:nvSpPr>
        <p:spPr>
          <a:xfrm flipV="1">
            <a:off x="741970" y="22541025"/>
            <a:ext cx="13414113" cy="1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052112-2E9E-6193-4613-F8B5D545FBF1}"/>
              </a:ext>
            </a:extLst>
          </p:cNvPr>
          <p:cNvSpPr txBox="1"/>
          <p:nvPr/>
        </p:nvSpPr>
        <p:spPr>
          <a:xfrm>
            <a:off x="966465" y="22952211"/>
            <a:ext cx="13244185" cy="5411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 Subtraction: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fixed average artifact template baseline.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Template K=10: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 subspace removal for stimulation artifacts.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SMARTALite: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local nearest-neighbor pulse-template subtraction.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SMARTAFull K=3, hp=100 Hz: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similarity-based artifact estimation with optimal shrinkage; final selected method.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SzPct val="100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SzPct val="1000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SMARTAFull workflow: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segments → high-pass similarity features → nearest neighbors → optimal shrinkage → local template subtraction → cleaned LFP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 descr="The image displays a comparison of frequency spectrum magnitudes for different stimuli, including a no-stim reference, raw high-stim, and an ERP subtraction, with the SMARTAFull setting specified.&#10;&#10;AI-generated content may be incorrect.">
            <a:extLst>
              <a:ext uri="{FF2B5EF4-FFF2-40B4-BE49-F238E27FC236}">
                <a16:creationId xmlns:a16="http://schemas.microsoft.com/office/drawing/2014/main" id="{9ED2822A-23CD-715A-0CE2-3CD973C113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7108" y="12982449"/>
            <a:ext cx="13237972" cy="797048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12CB939-8DBC-43CD-8757-8CC8C99B80FC}"/>
              </a:ext>
            </a:extLst>
          </p:cNvPr>
          <p:cNvSpPr txBox="1"/>
          <p:nvPr/>
        </p:nvSpPr>
        <p:spPr>
          <a:xfrm>
            <a:off x="16332000" y="20909691"/>
            <a:ext cx="126139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7: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SMARTAFull reduces stimulation-related harmonic structure and moves the high-stimulation spectrum closer to the no-stimulation reference.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Picture 72" descr="The diagram displays a bar chart with a descending trend in the total FFT error values, suggesting a correlation between the number of components (K) and the error reduction in a signal processing context.&#10;&#10;AI-generated content may be incorrect.">
            <a:extLst>
              <a:ext uri="{FF2B5EF4-FFF2-40B4-BE49-F238E27FC236}">
                <a16:creationId xmlns:a16="http://schemas.microsoft.com/office/drawing/2014/main" id="{5DF6A31B-E012-3DC8-82C3-747BD42A4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41191" y="24661737"/>
            <a:ext cx="11551818" cy="4766678"/>
          </a:xfrm>
          <a:prstGeom prst="rect">
            <a:avLst/>
          </a:prstGeom>
        </p:spPr>
      </p:pic>
      <p:pic>
        <p:nvPicPr>
          <p:cNvPr id="75" name="Picture 74" descr="The image displays a bar chart illustrating the final validation of stimulation-induced harmonic excess error, with values ranging from 7 to 0.&#10;&#10;AI-generated content may be incorrect.">
            <a:extLst>
              <a:ext uri="{FF2B5EF4-FFF2-40B4-BE49-F238E27FC236}">
                <a16:creationId xmlns:a16="http://schemas.microsoft.com/office/drawing/2014/main" id="{3053CF55-5446-5F59-7A3F-9007B3860A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20185" y="30317309"/>
            <a:ext cx="11551818" cy="4766678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49A48069-7A1B-5B56-D672-FA8FA7A1C6F6}"/>
              </a:ext>
            </a:extLst>
          </p:cNvPr>
          <p:cNvSpPr txBox="1"/>
          <p:nvPr/>
        </p:nvSpPr>
        <p:spPr>
          <a:xfrm>
            <a:off x="16741191" y="35504251"/>
            <a:ext cx="111293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31 selected V1 electrodes, SMARTAFull achieved the lowest mean total FFT error and lowest stimulation-harmonic excess error among the tested methods.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8C87F4BC-8E17-DC2E-3B01-55BDF6164524}"/>
              </a:ext>
            </a:extLst>
          </p:cNvPr>
          <p:cNvSpPr/>
          <p:nvPr/>
        </p:nvSpPr>
        <p:spPr>
          <a:xfrm>
            <a:off x="752348" y="34797145"/>
            <a:ext cx="14381290" cy="872105"/>
          </a:xfrm>
          <a:prstGeom prst="roundRect">
            <a:avLst/>
          </a:prstGeom>
          <a:solidFill>
            <a:srgbClr val="A613B1"/>
          </a:solidFill>
          <a:ln>
            <a:solidFill>
              <a:srgbClr val="5B3C88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Metrics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658BB8-CAFF-B78D-02CE-75FEA2C8EF8E}"/>
              </a:ext>
            </a:extLst>
          </p:cNvPr>
          <p:cNvSpPr txBox="1"/>
          <p:nvPr/>
        </p:nvSpPr>
        <p:spPr>
          <a:xfrm>
            <a:off x="941694" y="36661427"/>
            <a:ext cx="1417508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FFT error: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spectral distance from no-stimulation reference.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Harmonic excess error: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residual stimulation-related harmonic power.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Pulse-triggered residual: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remaining pulse-locked artifact after cleaning.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score: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artifact suppression and signal-preservation criteria.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2266D8CC-70D8-FA7A-C145-AFD8DAE88BB6}"/>
              </a:ext>
            </a:extLst>
          </p:cNvPr>
          <p:cNvSpPr/>
          <p:nvPr/>
        </p:nvSpPr>
        <p:spPr>
          <a:xfrm>
            <a:off x="778668" y="29086058"/>
            <a:ext cx="14354970" cy="87210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5B3C88"/>
            </a:solidFill>
          </a:ln>
        </p:spPr>
        <p:txBody>
          <a:bodyPr wrap="square" lIns="2794" tIns="2794" rIns="2794" bIns="2794" rtlCol="0" anchor="ctr"/>
          <a:lstStyle/>
          <a:p>
            <a:pPr marL="0" indent="0" algn="l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</a:t>
            </a:r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SMARTA?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9FB8353-1AD3-96A4-1CD4-F99E3E42E9B6}"/>
              </a:ext>
            </a:extLst>
          </p:cNvPr>
          <p:cNvSpPr txBox="1"/>
          <p:nvPr/>
        </p:nvSpPr>
        <p:spPr>
          <a:xfrm>
            <a:off x="902827" y="30541290"/>
            <a:ext cx="1408033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templates cannot capture trial-to-trial and pulse-to-pulse artifact variability.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is powerful but may remove time-locked neural activity.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SMARTAFull selects locally similar artifact segments and forms adaptive templates.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OptShrink/optimal shrinkage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suppresses noise in the artifact-segment matrix by shrinking unreliable singular values instead of hard-truncating components.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validation showed the best overall artifact reduction across selected electrodes.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4DA3E36E-E206-792A-A176-260DB1102CA9}"/>
              </a:ext>
            </a:extLst>
          </p:cNvPr>
          <p:cNvSpPr/>
          <p:nvPr/>
        </p:nvSpPr>
        <p:spPr>
          <a:xfrm>
            <a:off x="732006" y="30317307"/>
            <a:ext cx="13578082" cy="1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515</Words>
  <Application>Microsoft Office PowerPoint</Application>
  <PresentationFormat>Custom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Indian Institute of Science, Bangalore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Modeling and Removal in ICMS LFP Recordings</dc:title>
  <dc:subject>A0 Poster</dc:subject>
  <dc:creator>Ramya Sree Galanki</dc:creator>
  <cp:lastModifiedBy>ramyagalanki7@outlook.com</cp:lastModifiedBy>
  <cp:revision>14</cp:revision>
  <dcterms:created xsi:type="dcterms:W3CDTF">2026-01-29T12:01:41Z</dcterms:created>
  <dcterms:modified xsi:type="dcterms:W3CDTF">2026-05-21T09:19:49Z</dcterms:modified>
</cp:coreProperties>
</file>